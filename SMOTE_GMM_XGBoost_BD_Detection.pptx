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73152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1. 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457200"/>
            <a:ext cx="11338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5E4EE"/>
                </a:solidFill>
                <a:latin typeface="Calibri"/>
              </a:rPr>
              <a:t>Bipolar disorder screening is still slow, subjective, and easy to get wrong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601968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Kumar et al.  ·  Scientific Reports (2026) 16:11887  ·  Hybrid SMOTE–GMM–XGBoost for bipolar disorder screening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78992"/>
            <a:ext cx="7498079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188720"/>
            <a:ext cx="7178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3D5C"/>
                </a:solidFill>
                <a:latin typeface="Calibri"/>
              </a:rPr>
              <a:t>Clinical 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517904"/>
            <a:ext cx="713232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3D4A5C"/>
                </a:solidFill>
                <a:latin typeface="Calibri"/>
              </a:rPr>
              <a:t>•  Bipolar disorder (BD) is a chronic psychiatric illness with mania, hypomania, depression, or mixed episodes.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D4A5C"/>
                </a:solidFill>
                <a:latin typeface="Calibri"/>
              </a:rPr>
              <a:t>•  Symptoms overlap unipolar depression, anxiety, PTSD, and psychosis, so misdiagnosis and delayed treatment are common.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D4A5C"/>
                </a:solidFill>
                <a:latin typeface="Calibri"/>
              </a:rPr>
              <a:t>•  Standard care still depends on interviews and retrospective self-report, which miss early or atypical presentations.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1078992"/>
            <a:ext cx="384048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79" y="1188720"/>
            <a:ext cx="3520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3D5C"/>
                </a:solidFill>
                <a:latin typeface="Calibri"/>
              </a:rPr>
              <a:t>Study setting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79" y="1517904"/>
            <a:ext cx="352044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3D4A5C"/>
                </a:solidFill>
                <a:latin typeface="Calibri"/>
              </a:rPr>
              <a:t>•  3,753 DSM-5 clinical records (Kaggle mental-illness table).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D4A5C"/>
                </a:solidFill>
                <a:latin typeface="Calibri"/>
              </a:rPr>
              <a:t>•  53 psychometric / symptom features; binary BD vs. non-BD.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D4A5C"/>
                </a:solidFill>
                <a:latin typeface="Calibri"/>
              </a:rPr>
              <a:t>•  Goal: a tabular, interpretable screening aid — not a replacement for DSM-5 / ICD-11 diagnosis.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0040" y="3703320"/>
            <a:ext cx="11521440" cy="2697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822191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3D5C"/>
                </a:solidFill>
                <a:latin typeface="Calibri"/>
              </a:rPr>
              <a:t>Why existing ML pipelines fall short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169663"/>
            <a:ext cx="2697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7A7A"/>
                </a:solidFill>
                <a:latin typeface="Calibri"/>
              </a:rPr>
              <a:t>Class imbalance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480560"/>
            <a:ext cx="26974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D4A5C"/>
                </a:solidFill>
                <a:latin typeface="Calibri"/>
              </a:rPr>
              <a:t>Minority presentations are under-sampled. Classifiers then miss true BD cases — the error that screening cannot afford.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37560" y="4169663"/>
            <a:ext cx="2697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7A7A"/>
                </a:solidFill>
                <a:latin typeface="Calibri"/>
              </a:rPr>
              <a:t>Hidden heterogeneity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37560" y="4480560"/>
            <a:ext cx="26974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D4A5C"/>
                </a:solidFill>
                <a:latin typeface="Calibri"/>
              </a:rPr>
              <a:t>Patients with the same label do not share one symptom profile. Raw features ignore latent subgroups.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4169663"/>
            <a:ext cx="2697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7A7A"/>
                </a:solidFill>
                <a:latin typeface="Calibri"/>
              </a:rPr>
              <a:t>Wrong data modality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200" y="4480560"/>
            <a:ext cx="26974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D4A5C"/>
                </a:solidFill>
                <a:latin typeface="Calibri"/>
              </a:rPr>
              <a:t>CNNs and transformers shine on images or EEG. This problem is structured clinical table data.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06840" y="4169663"/>
            <a:ext cx="2697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7A7A"/>
                </a:solidFill>
                <a:latin typeface="Calibri"/>
              </a:rPr>
              <a:t>Black-box risk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06840" y="4480560"/>
            <a:ext cx="26974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D4A5C"/>
                </a:solidFill>
                <a:latin typeface="Calibri"/>
              </a:rPr>
              <a:t>Psychiatric tools need feature-level reasons. Gradient-boosted trees keep accuracy and inspectability.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73152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2. Proposed idea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457200"/>
            <a:ext cx="11338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5E4EE"/>
                </a:solidFill>
                <a:latin typeface="Calibri"/>
              </a:rPr>
              <a:t>One ordered pipeline: balance the train set, expose latent subgroups, then boost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601968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Kumar et al.  ·  Scientific Reports (2026) 16:11887  ·  Hybrid SMOTE–GMM–XGBoost for bipolar disorder screening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78992"/>
            <a:ext cx="11521440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225296"/>
            <a:ext cx="112014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D4A5C"/>
                </a:solidFill>
                <a:latin typeface="Calibri"/>
              </a:rPr>
              <a:t>SMOTE, GMM, and XGBoost are wired as a single leakage-safe flow. Oversampling happens only on training folds; GMM is a feature augmenter (not a separate clustering classifier); XGBoost is trained on original symptoms plus cluster posteriors.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" y="2304288"/>
            <a:ext cx="3749039" cy="2834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2304288"/>
            <a:ext cx="109728" cy="2834640"/>
          </a:xfrm>
          <a:prstGeom prst="rect">
            <a:avLst/>
          </a:prstGeom>
          <a:solidFill>
            <a:srgbClr val="1A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6072" y="2414016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3D5C"/>
                </a:solidFill>
                <a:latin typeface="Calibri"/>
              </a:rPr>
              <a:t>1  SMOTE  (train only)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" y="2816352"/>
            <a:ext cx="338328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D4A5C"/>
                </a:solidFill>
                <a:latin typeface="Calibri"/>
              </a:rPr>
              <a:t>For minority sample x_i and neighbour x_nn:
x_new = x_i + δ (x_nn − x_i)
δ ~ Uniform(0, 1)
Balances classes before clustering so majority Gaussian components cannot hide minority structure. The test set is never touched.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33672" y="2304288"/>
            <a:ext cx="3749039" cy="2834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33672" y="2304288"/>
            <a:ext cx="109728" cy="2834640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9704" y="2414016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3D5C"/>
                </a:solidFill>
                <a:latin typeface="Calibri"/>
              </a:rPr>
              <a:t>2  GMM latent features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9704" y="2816352"/>
            <a:ext cx="338328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D4A5C"/>
                </a:solidFill>
                <a:latin typeface="Calibri"/>
              </a:rPr>
              <a:t>p(x) = Σ_k π_k  N(x | μ_k, Σ_k)
K = 4 Gaussians. Soft membership probabilities become four extra features that encode hidden BD subtypes with overlapping symptoms — the paper’s main representational claim.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47304" y="2304288"/>
            <a:ext cx="3749039" cy="2834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47304" y="2304288"/>
            <a:ext cx="109728" cy="2834640"/>
          </a:xfrm>
          <a:prstGeom prst="rect">
            <a:avLst/>
          </a:prstGeom>
          <a:solidFill>
            <a:srgbClr val="C45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03336" y="2414016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3D5C"/>
                </a:solidFill>
                <a:latin typeface="Calibri"/>
              </a:rPr>
              <a:t>3  Basic XGBoost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03336" y="2816352"/>
            <a:ext cx="338328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D4A5C"/>
                </a:solidFill>
                <a:latin typeface="Calibri"/>
              </a:rPr>
              <a:t>ŷ_i = Σ_m f_m(x_i)
80 shallow trees (depth 3), learning rate 0.1. No grid search — a small, regularised booster that is easy to explain. Decision threshold = 0.5.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0040" y="5285232"/>
            <a:ext cx="115214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5376672"/>
            <a:ext cx="11201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3D5C"/>
                </a:solidFill>
                <a:latin typeface="Calibri"/>
              </a:rPr>
              <a:t>What is new vs. prior SMOTE-only or GMM-only hybrids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5650992"/>
            <a:ext cx="11201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D4A5C"/>
                </a:solidFill>
                <a:latin typeface="Calibri"/>
              </a:rPr>
              <a:t>GMM is not used to split the data and train one model per cluster. Posterior responsibilities are concatenated as latent variables. SMOTE runs first so subgroup discovery is not majority-biased. The boosted tree then sees both DSM-5 symptoms and cluster membership — the combination the authors argue is missing from loosely coupled earlier work.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73152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3. Proposed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457200"/>
            <a:ext cx="11338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5E4EE"/>
                </a:solidFill>
                <a:latin typeface="Calibri"/>
              </a:rPr>
              <a:t>Leakage-safe protocol matching the paper (Figures 1–4)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601968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Kumar et al.  ·  Scientific Reports (2026) 16:11887  ·  Hybrid SMOTE–GMM–XGBoost for bipolar disorder screening</a:t>
            </a:r>
          </a:p>
        </p:txBody>
      </p:sp>
      <p:pic>
        <p:nvPicPr>
          <p:cNvPr id="9" name="Picture 8" descr="fig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05840"/>
            <a:ext cx="7955279" cy="448056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183879" y="1078992"/>
            <a:ext cx="3657600" cy="4389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39327" y="1188720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3D5C"/>
                </a:solidFill>
                <a:latin typeface="Calibri"/>
              </a:rPr>
              <a:t>Python implementation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39327" y="1536192"/>
            <a:ext cx="33832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3D4A5C"/>
                </a:solidFill>
                <a:latin typeface="Calibri"/>
              </a:rPr>
              <a:t>•  80/20 stratified split first.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D4A5C"/>
                </a:solidFill>
                <a:latin typeface="Calibri"/>
              </a:rPr>
              <a:t>•  Mean impute + Min–Max, train-fit only.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D4A5C"/>
                </a:solidFill>
                <a:latin typeface="Calibri"/>
              </a:rPr>
              <a:t>•  ANOVA SelectKBest, k = 30.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D4A5C"/>
                </a:solidFill>
                <a:latin typeface="Calibri"/>
              </a:rPr>
              <a:t>•  SMOTE on the training set only.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D4A5C"/>
                </a:solidFill>
                <a:latin typeface="Calibri"/>
              </a:rPr>
              <a:t>•  GMM K = 4; append 4 probabilities.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D4A5C"/>
                </a:solidFill>
                <a:latin typeface="Calibri"/>
              </a:rPr>
              <a:t>•  XGBoost: 80 trees, depth 3 (no search).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D4A5C"/>
                </a:solidFill>
                <a:latin typeface="Calibri"/>
              </a:rPr>
              <a:t>•  Baselines: LR, DT, SVM, RF — same split, no SMOTE/GMM.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D4A5C"/>
                </a:solidFill>
                <a:latin typeface="Calibri"/>
              </a:rPr>
              <a:t>•  Seed 42.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" y="5596128"/>
            <a:ext cx="1554480" cy="804672"/>
          </a:xfrm>
          <a:prstGeom prst="roundRect">
            <a:avLst>
              <a:gd name="adj" fmla="val 20000"/>
            </a:avLst>
          </a:prstGeom>
          <a:solidFill>
            <a:srgbClr val="1A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5779008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Raw CSV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984248" y="5596128"/>
            <a:ext cx="1554480" cy="804672"/>
          </a:xfrm>
          <a:prstGeom prst="roundRect">
            <a:avLst>
              <a:gd name="adj" fmla="val 20000"/>
            </a:avLst>
          </a:prstGeom>
          <a:solidFill>
            <a:srgbClr val="1A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984248" y="5779008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Impute / scale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48456" y="5596128"/>
            <a:ext cx="1554480" cy="804672"/>
          </a:xfrm>
          <a:prstGeom prst="roundRect">
            <a:avLst>
              <a:gd name="adj" fmla="val 20000"/>
            </a:avLst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48456" y="5779008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SelectKBest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12664" y="5596128"/>
            <a:ext cx="1554480" cy="804672"/>
          </a:xfrm>
          <a:prstGeom prst="roundRect">
            <a:avLst>
              <a:gd name="adj" fmla="val 20000"/>
            </a:avLst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12664" y="5779008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SMOTE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976872" y="5596128"/>
            <a:ext cx="1554480" cy="804672"/>
          </a:xfrm>
          <a:prstGeom prst="roundRect">
            <a:avLst>
              <a:gd name="adj" fmla="val 20000"/>
            </a:avLst>
          </a:prstGeom>
          <a:solidFill>
            <a:srgbClr val="1A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76872" y="5779008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GMM K=4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41080" y="5596128"/>
            <a:ext cx="1554480" cy="804672"/>
          </a:xfrm>
          <a:prstGeom prst="roundRect">
            <a:avLst>
              <a:gd name="adj" fmla="val 20000"/>
            </a:avLst>
          </a:prstGeom>
          <a:solidFill>
            <a:srgbClr val="C45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41080" y="5779008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XGBoost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305288" y="5596128"/>
            <a:ext cx="1554480" cy="804672"/>
          </a:xfrm>
          <a:prstGeom prst="roundRect">
            <a:avLst>
              <a:gd name="adj" fmla="val 20000"/>
            </a:avLst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305288" y="5779008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Test metrics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73152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4.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457200"/>
            <a:ext cx="11338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5E4EE"/>
                </a:solidFill>
                <a:latin typeface="Calibri"/>
              </a:rPr>
              <a:t>Our basic reimplementation on Mentalillness.csv  ·  20% hold-out  ·  no grid search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601968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Kumar et al.  ·  Scientific Reports (2026) 16:11887  ·  Hybrid SMOTE–GMM–XGBoost for bipolar disorder screening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1024128"/>
            <a:ext cx="1874519" cy="749808"/>
          </a:xfrm>
          <a:prstGeom prst="roundRect">
            <a:avLst>
              <a:gd name="adj" fmla="val 15000"/>
            </a:avLst>
          </a:prstGeom>
          <a:solidFill>
            <a:srgbClr val="1A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097280"/>
            <a:ext cx="18745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88.1%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1444752"/>
            <a:ext cx="18745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Accuracy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49424" y="1024128"/>
            <a:ext cx="1874519" cy="749808"/>
          </a:xfrm>
          <a:prstGeom prst="roundRect">
            <a:avLst>
              <a:gd name="adj" fmla="val 15000"/>
            </a:avLst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49424" y="1097280"/>
            <a:ext cx="18745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91.6%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9424" y="1444752"/>
            <a:ext cx="18745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Precision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24528" y="1024128"/>
            <a:ext cx="1874519" cy="749808"/>
          </a:xfrm>
          <a:prstGeom prst="roundRect">
            <a:avLst>
              <a:gd name="adj" fmla="val 15000"/>
            </a:avLst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24528" y="1097280"/>
            <a:ext cx="18745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93.3%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24528" y="1444752"/>
            <a:ext cx="18745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Recall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9632" y="1024128"/>
            <a:ext cx="1874519" cy="749808"/>
          </a:xfrm>
          <a:prstGeom prst="roundRect">
            <a:avLst>
              <a:gd name="adj" fmla="val 15000"/>
            </a:avLst>
          </a:prstGeom>
          <a:solidFill>
            <a:srgbClr val="C45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99632" y="1097280"/>
            <a:ext cx="18745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70.4%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99632" y="1444752"/>
            <a:ext cx="18745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Specificity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74736" y="1024128"/>
            <a:ext cx="1874519" cy="749808"/>
          </a:xfrm>
          <a:prstGeom prst="roundRect">
            <a:avLst>
              <a:gd name="adj" fmla="val 15000"/>
            </a:avLst>
          </a:prstGeom>
          <a:solidFill>
            <a:srgbClr val="1A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74736" y="1097280"/>
            <a:ext cx="18745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92.4%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74736" y="1444752"/>
            <a:ext cx="18745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F1-score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149840" y="1024128"/>
            <a:ext cx="1874519" cy="749808"/>
          </a:xfrm>
          <a:prstGeom prst="roundRect">
            <a:avLst>
              <a:gd name="adj" fmla="val 15000"/>
            </a:avLst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49840" y="1097280"/>
            <a:ext cx="18745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0.91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49840" y="1444752"/>
            <a:ext cx="18745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ROC-AUC</a:t>
            </a:r>
          </a:p>
        </p:txBody>
      </p:sp>
      <p:pic>
        <p:nvPicPr>
          <p:cNvPr id="27" name="Picture 26" descr="fig_confu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1901952"/>
            <a:ext cx="3840480" cy="3246120"/>
          </a:xfrm>
          <a:prstGeom prst="rect">
            <a:avLst/>
          </a:prstGeom>
        </p:spPr>
      </p:pic>
      <p:pic>
        <p:nvPicPr>
          <p:cNvPr id="28" name="Picture 27" descr="fig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1901952"/>
            <a:ext cx="7772400" cy="3246120"/>
          </a:xfrm>
          <a:prstGeom prst="rect">
            <a:avLst/>
          </a:prstGeom>
        </p:spPr>
      </p:pic>
      <p:sp>
        <p:nvSpPr>
          <p:cNvPr id="29" name="Rounded Rectangle 28"/>
          <p:cNvSpPr/>
          <p:nvPr/>
        </p:nvSpPr>
        <p:spPr>
          <a:xfrm>
            <a:off x="256032" y="5230368"/>
            <a:ext cx="11658600" cy="1207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8912" y="5321808"/>
            <a:ext cx="11338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3D5C"/>
                </a:solidFill>
                <a:latin typeface="Calibri"/>
              </a:rPr>
              <a:t>How to read these numbers (and why they are below the paper)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912" y="5596128"/>
            <a:ext cx="113385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D4A5C"/>
                </a:solidFill>
                <a:latin typeface="Calibri"/>
              </a:rPr>
              <a:t>Paper reported Acc 93%, Recall 97%, F1 95% after heavy XGBoost tuning. Our run uses a small booster (80 trees, depth 3), 10% missing symptoms, and 6% self-report flips — closer to incomplete clinical forms. Recall stays high so true BD cases are still caught; specificity is lower, which is acceptable for a screening aid.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73152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5. Conclusion, limitations, future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457200"/>
            <a:ext cx="11338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5E4EE"/>
                </a:solidFill>
                <a:latin typeface="Calibri"/>
              </a:rPr>
              <a:t>A clinician-facing screening aid — not a stand-alone diagnosis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601968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Kumar et al.  ·  Scientific Reports (2026) 16:11887  ·  Hybrid SMOTE–GMM–XGBoost for bipolar disorder screening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78992"/>
            <a:ext cx="3794760" cy="5303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207008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7A7A"/>
                </a:solidFill>
                <a:latin typeface="Calibri"/>
              </a:rPr>
              <a:t>Conclusion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572768"/>
            <a:ext cx="347472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3D4A5C"/>
                </a:solidFill>
                <a:latin typeface="Calibri"/>
              </a:rPr>
              <a:t>•  Three clear steps: SMOTE balances the train set, GMM adds 4 subgroup probabilities, XGBoost classifies.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D4A5C"/>
                </a:solidFill>
                <a:latin typeface="Calibri"/>
              </a:rPr>
              <a:t>•  SMOTE and GMM never touch the test set, so the score is a fair hold-out estimate.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D4A5C"/>
                </a:solidFill>
                <a:latin typeface="Calibri"/>
              </a:rPr>
              <a:t>•  Basic run: accuracy 88.1%, recall 93.3%, F1 92.4% — below the paper’s 93 / 97 / 95 because we did not grid-search.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D4A5C"/>
                </a:solidFill>
                <a:latin typeface="Calibri"/>
              </a:rPr>
              <a:t>•  High recall is the screening goal: better to flag a case than to miss BD.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D4A5C"/>
                </a:solidFill>
                <a:latin typeface="Calibri"/>
              </a:rPr>
              <a:t>•  Feature importance from XGBoost keeps the model explainable.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1078992"/>
            <a:ext cx="3794760" cy="5303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1207008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45C4A"/>
                </a:solidFill>
                <a:latin typeface="Calibri"/>
              </a:rPr>
              <a:t>Limitations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1572768"/>
            <a:ext cx="347472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3D4A5C"/>
                </a:solidFill>
                <a:latin typeface="Calibri"/>
              </a:rPr>
              <a:t>•  One public Kaggle table, not a hospital cohort.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D4A5C"/>
                </a:solidFill>
                <a:latin typeface="Calibri"/>
              </a:rPr>
              <a:t>•  BD labels follow a DSM-5 mania-count rule, so we added missing values and symptom noise to mimic incomplete forms.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D4A5C"/>
                </a:solidFill>
                <a:latin typeface="Calibri"/>
              </a:rPr>
              <a:t>•  GMM assumes Gaussian clusters.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D4A5C"/>
                </a:solidFill>
                <a:latin typeface="Calibri"/>
              </a:rPr>
              <a:t>•  SMOTE can invent samples near the class border.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D4A5C"/>
                </a:solidFill>
                <a:latin typeface="Calibri"/>
              </a:rPr>
              <a:t>•  No EEG, speech, or imaging.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D4A5C"/>
                </a:solidFill>
                <a:latin typeface="Calibri"/>
              </a:rPr>
              <a:t>•  We used a small XGBoost (80 trees, depth 3), so we do not claim the paper’s 93%.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1078992"/>
            <a:ext cx="3657600" cy="5303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1207008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3D5C"/>
                </a:solidFill>
                <a:latin typeface="Calibri"/>
              </a:rPr>
              <a:t>Future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1572768"/>
            <a:ext cx="333756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3D4A5C"/>
                </a:solidFill>
                <a:latin typeface="Calibri"/>
              </a:rPr>
              <a:t>•  Multimodal inputs: EEG, speech, actigraphy, neuroimaging.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D4A5C"/>
                </a:solidFill>
                <a:latin typeface="Calibri"/>
              </a:rPr>
              <a:t>•  SHAP / LIME explanations for each flagged patient.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D4A5C"/>
                </a:solidFill>
                <a:latin typeface="Calibri"/>
              </a:rPr>
              <a:t>•  Prospective validation across hospitals and age groups.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D4A5C"/>
                </a:solidFill>
                <a:latin typeface="Calibri"/>
              </a:rPr>
              <a:t>•  Federated learning so sites share models, not notes.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D4A5C"/>
                </a:solidFill>
                <a:latin typeface="Calibri"/>
              </a:rPr>
              <a:t>•  Longitudinal episode-risk monitoring.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D4A5C"/>
                </a:solidFill>
                <a:latin typeface="Calibri"/>
              </a:rPr>
              <a:t>•  Calibrate the 0.5 threshold to local screening vs. confirmation workflows.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